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notesSlides/notesSlide8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8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F9616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61C-46DA-9C71-108F114FD48B}"/>
              </c:ext>
            </c:extLst>
          </c:dPt>
          <c:dPt>
            <c:idx val="1"/>
            <c:invertIfNegative val="0"/>
            <c:bubble3D val="0"/>
            <c:spPr>
              <a:solidFill>
                <a:srgbClr val="F5B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1C-46DA-9C71-108F114FD48B}"/>
              </c:ext>
            </c:extLst>
          </c:dPt>
          <c:dPt>
            <c:idx val="2"/>
            <c:invertIfNegative val="0"/>
            <c:bubble3D val="0"/>
            <c:spPr>
              <a:solidFill>
                <a:srgbClr val="00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61C-46DA-9C71-108F114FD48B}"/>
              </c:ext>
            </c:extLst>
          </c:dPt>
          <c:dPt>
            <c:idx val="3"/>
            <c:invertIfNegative val="0"/>
            <c:bubble3D val="0"/>
            <c:spPr>
              <a:solidFill>
                <a:srgbClr val="3D8B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61C-46DA-9C71-108F114FD48B}"/>
              </c:ext>
            </c:extLst>
          </c:dPt>
          <c:dPt>
            <c:idx val="4"/>
            <c:invertIfNegative val="0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61C-46DA-9C71-108F114FD48B}"/>
              </c:ext>
            </c:extLst>
          </c:dPt>
          <c:dPt>
            <c:idx val="5"/>
            <c:invertIfNegative val="0"/>
            <c:bubble3D val="0"/>
            <c:spPr>
              <a:solidFill>
                <a:srgbClr val="2EB87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61C-46DA-9C71-108F114FD48B}"/>
              </c:ext>
            </c:extLst>
          </c:dPt>
          <c:dPt>
            <c:idx val="6"/>
            <c:invertIfNegative val="0"/>
            <c:bubble3D val="0"/>
            <c:spPr>
              <a:solidFill>
                <a:srgbClr val="F08A2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B61C-46DA-9C71-108F114FD48B}"/>
              </c:ext>
            </c:extLst>
          </c:dPt>
          <c:dPt>
            <c:idx val="7"/>
            <c:invertIfNegative val="0"/>
            <c:bubble3D val="0"/>
            <c:spPr>
              <a:solidFill>
                <a:srgbClr val="5B7A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B61C-46DA-9C71-108F114FD48B}"/>
              </c:ext>
            </c:extLst>
          </c:dPt>
          <c:dPt>
            <c:idx val="8"/>
            <c:invertIfNegative val="0"/>
            <c:bubble3D val="0"/>
            <c:spPr>
              <a:solidFill>
                <a:srgbClr val="D94EA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B61C-46DA-9C71-108F114FD48B}"/>
              </c:ext>
            </c:extLst>
          </c:dPt>
          <c:dPt>
            <c:idx val="9"/>
            <c:invertIfNegative val="0"/>
            <c:bubble3D val="0"/>
            <c:spPr>
              <a:solidFill>
                <a:srgbClr val="3DB5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B61C-46DA-9C71-108F114FD48B}"/>
              </c:ext>
            </c:extLst>
          </c:dPt>
          <c:dLbls>
            <c:numFmt formatCode="\$#,##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ford</c:v>
                </c:pt>
                <c:pt idx="1">
                  <c:v>chevrolet</c:v>
                </c:pt>
                <c:pt idx="2">
                  <c:v>nissan</c:v>
                </c:pt>
                <c:pt idx="3">
                  <c:v>toyota</c:v>
                </c:pt>
                <c:pt idx="4">
                  <c:v>bmw</c:v>
                </c:pt>
                <c:pt idx="5">
                  <c:v>mercedes-benz</c:v>
                </c:pt>
                <c:pt idx="6">
                  <c:v>dodge</c:v>
                </c:pt>
                <c:pt idx="7">
                  <c:v>infiniti</c:v>
                </c:pt>
                <c:pt idx="8">
                  <c:v>honda</c:v>
                </c:pt>
                <c:pt idx="9">
                  <c:v>lexus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1362.6</c:v>
                </c:pt>
                <c:pt idx="1">
                  <c:v>723.4</c:v>
                </c:pt>
                <c:pt idx="2">
                  <c:v>633.70000000000005</c:v>
                </c:pt>
                <c:pt idx="3">
                  <c:v>489.1</c:v>
                </c:pt>
                <c:pt idx="4">
                  <c:v>446.5</c:v>
                </c:pt>
                <c:pt idx="5">
                  <c:v>370.1</c:v>
                </c:pt>
                <c:pt idx="6">
                  <c:v>345.6</c:v>
                </c:pt>
                <c:pt idx="7">
                  <c:v>312.5</c:v>
                </c:pt>
                <c:pt idx="8">
                  <c:v>298.3</c:v>
                </c:pt>
                <c:pt idx="9">
                  <c:v>242.2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61C-46DA-9C71-108F114FD4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1E2761"/>
                </a:solidFill>
                <a:latin typeface="Arial"/>
              </a:rPr>
              <a:t>Average price by model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selling price ($)</c:v>
                </c:pt>
              </c:strCache>
            </c:strRef>
          </c:tx>
          <c:spPr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1745</c:v>
                </c:pt>
                <c:pt idx="1">
                  <c:v>2620</c:v>
                </c:pt>
                <c:pt idx="2">
                  <c:v>3776</c:v>
                </c:pt>
                <c:pt idx="3">
                  <c:v>5424</c:v>
                </c:pt>
                <c:pt idx="4">
                  <c:v>7800</c:v>
                </c:pt>
                <c:pt idx="5">
                  <c:v>10500</c:v>
                </c:pt>
                <c:pt idx="6">
                  <c:v>14200</c:v>
                </c:pt>
                <c:pt idx="7">
                  <c:v>19800</c:v>
                </c:pt>
                <c:pt idx="8">
                  <c:v>23500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C5-4067-AB75-C54C9D67CE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\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400" b="0" i="0" u="none" strike="noStrike">
                <a:solidFill>
                  <a:srgbClr val="1E2761"/>
                </a:solidFill>
                <a:latin typeface="Arial"/>
              </a:rPr>
              <a:t>Average mileage by model year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odometer (miles)</c:v>
                </c:pt>
              </c:strCache>
            </c:strRef>
          </c:tx>
          <c:spPr>
            <a:ln w="38100" cap="flat">
              <a:solidFill>
                <a:srgbClr val="00A6A0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0A6A0"/>
              </a:solidFill>
              <a:ln w="9525" cap="flat">
                <a:solidFill>
                  <a:srgbClr val="00A6A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2000</c:v>
                </c:pt>
                <c:pt idx="1">
                  <c:v>2002</c:v>
                </c:pt>
                <c:pt idx="2">
                  <c:v>2004</c:v>
                </c:pt>
                <c:pt idx="3">
                  <c:v>2006</c:v>
                </c:pt>
                <c:pt idx="4">
                  <c:v>2008</c:v>
                </c:pt>
                <c:pt idx="5">
                  <c:v>2010</c:v>
                </c:pt>
                <c:pt idx="6">
                  <c:v>2012</c:v>
                </c:pt>
                <c:pt idx="7">
                  <c:v>2014</c:v>
                </c:pt>
                <c:pt idx="8">
                  <c:v>2015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154337</c:v>
                </c:pt>
                <c:pt idx="1">
                  <c:v>145553</c:v>
                </c:pt>
                <c:pt idx="2">
                  <c:v>134000</c:v>
                </c:pt>
                <c:pt idx="3">
                  <c:v>118000</c:v>
                </c:pt>
                <c:pt idx="4">
                  <c:v>99000</c:v>
                </c:pt>
                <c:pt idx="5">
                  <c:v>75000</c:v>
                </c:pt>
                <c:pt idx="6">
                  <c:v>46000</c:v>
                </c:pt>
                <c:pt idx="7">
                  <c:v>18000</c:v>
                </c:pt>
                <c:pt idx="8">
                  <c:v>9000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78-49D4-B33B-B6D76F1E24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3D8BF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FL</c:v>
                </c:pt>
                <c:pt idx="1">
                  <c:v>CA</c:v>
                </c:pt>
                <c:pt idx="2">
                  <c:v>PA</c:v>
                </c:pt>
                <c:pt idx="3">
                  <c:v>TX</c:v>
                </c:pt>
                <c:pt idx="4">
                  <c:v>GA</c:v>
                </c:pt>
                <c:pt idx="5">
                  <c:v>NJ</c:v>
                </c:pt>
                <c:pt idx="6">
                  <c:v>IL</c:v>
                </c:pt>
                <c:pt idx="7">
                  <c:v>NC</c:v>
                </c:pt>
                <c:pt idx="8">
                  <c:v>OH</c:v>
                </c:pt>
                <c:pt idx="9">
                  <c:v>TN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81482</c:v>
                </c:pt>
                <c:pt idx="1">
                  <c:v>71667</c:v>
                </c:pt>
                <c:pt idx="2">
                  <c:v>53158</c:v>
                </c:pt>
                <c:pt idx="3">
                  <c:v>45196</c:v>
                </c:pt>
                <c:pt idx="4">
                  <c:v>34059</c:v>
                </c:pt>
                <c:pt idx="5">
                  <c:v>27365</c:v>
                </c:pt>
                <c:pt idx="6">
                  <c:v>23188</c:v>
                </c:pt>
                <c:pt idx="7">
                  <c:v>21333</c:v>
                </c:pt>
                <c:pt idx="8">
                  <c:v>21252</c:v>
                </c:pt>
                <c:pt idx="9">
                  <c:v>20691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C-4542-B70F-6D09935A0D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1E2761"/>
                </a:solidFill>
                <a:latin typeface="Arial"/>
              </a:rPr>
              <a:t>Body style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Body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021-419A-9EB5-2EC55FB67EF0}"/>
              </c:ext>
            </c:extLst>
          </c:dPt>
          <c:dPt>
            <c:idx val="1"/>
            <c:bubble3D val="0"/>
            <c:spPr>
              <a:solidFill>
                <a:srgbClr val="F5B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021-419A-9EB5-2EC55FB67EF0}"/>
              </c:ext>
            </c:extLst>
          </c:dPt>
          <c:dPt>
            <c:idx val="2"/>
            <c:bubble3D val="0"/>
            <c:spPr>
              <a:solidFill>
                <a:srgbClr val="00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021-419A-9EB5-2EC55FB67EF0}"/>
              </c:ext>
            </c:extLst>
          </c:dPt>
          <c:dPt>
            <c:idx val="3"/>
            <c:bubble3D val="0"/>
            <c:spPr>
              <a:solidFill>
                <a:srgbClr val="3D8B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021-419A-9EB5-2EC55FB67EF0}"/>
              </c:ext>
            </c:extLst>
          </c:dPt>
          <c:dPt>
            <c:idx val="4"/>
            <c:bubble3D val="0"/>
            <c:spPr>
              <a:solidFill>
                <a:srgbClr val="7B5E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021-419A-9EB5-2EC55FB67EF0}"/>
              </c:ext>
            </c:extLst>
          </c:dPt>
          <c:dPt>
            <c:idx val="5"/>
            <c:bubble3D val="0"/>
            <c:spPr>
              <a:solidFill>
                <a:srgbClr val="C9D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021-419A-9EB5-2EC55FB67EF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021-419A-9EB5-2EC55FB67EF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021-419A-9EB5-2EC55FB67EF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021-419A-9EB5-2EC55FB67EF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021-419A-9EB5-2EC55FB67EF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021-419A-9EB5-2EC55FB67EF0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3021-419A-9EB5-2EC55FB67EF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sedan</c:v>
                </c:pt>
                <c:pt idx="1">
                  <c:v>suv</c:v>
                </c:pt>
                <c:pt idx="2">
                  <c:v>hatchback</c:v>
                </c:pt>
                <c:pt idx="3">
                  <c:v>minivan</c:v>
                </c:pt>
                <c:pt idx="4">
                  <c:v>coupe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241332</c:v>
                </c:pt>
                <c:pt idx="1">
                  <c:v>143844</c:v>
                </c:pt>
                <c:pt idx="2">
                  <c:v>26237</c:v>
                </c:pt>
                <c:pt idx="3">
                  <c:v>25529</c:v>
                </c:pt>
                <c:pt idx="4">
                  <c:v>17752</c:v>
                </c:pt>
                <c:pt idx="5">
                  <c:v>60750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021-419A-9EB5-2EC55FB67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1E2761"/>
                </a:solidFill>
                <a:latin typeface="Arial"/>
              </a:rPr>
              <a:t>Transmission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860-4896-BC74-33560DAB01C6}"/>
              </c:ext>
            </c:extLst>
          </c:dPt>
          <c:dPt>
            <c:idx val="1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860-4896-BC74-33560DAB01C6}"/>
              </c:ext>
            </c:extLst>
          </c:dPt>
          <c:dPt>
            <c:idx val="2"/>
            <c:bubble3D val="0"/>
            <c:spPr>
              <a:solidFill>
                <a:srgbClr val="C9D2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860-4896-BC74-33560DAB01C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860-4896-BC74-33560DAB01C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860-4896-BC74-33560DAB01C6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860-4896-BC74-33560DAB01C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467915</c:v>
                </c:pt>
                <c:pt idx="1">
                  <c:v>16993</c:v>
                </c:pt>
                <c:pt idx="2">
                  <c:v>63590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860-4896-BC74-33560DAB01C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1A1A1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ZA" sz="1400" b="0" i="0" u="none" strike="noStrike">
                <a:solidFill>
                  <a:srgbClr val="1E2761"/>
                </a:solidFill>
                <a:latin typeface="Arial"/>
              </a:rPr>
              <a:t>Exterior color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rgbClr val="1A1A1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3E3-472F-92D2-2400F9493830}"/>
              </c:ext>
            </c:extLst>
          </c:dPt>
          <c:dPt>
            <c:idx val="1"/>
            <c:invertIfNegative val="0"/>
            <c:bubble3D val="0"/>
            <c:spPr>
              <a:solidFill>
                <a:srgbClr val="D9D9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E3-472F-92D2-2400F9493830}"/>
              </c:ext>
            </c:extLst>
          </c:dPt>
          <c:dPt>
            <c:idx val="2"/>
            <c:invertIfNegative val="0"/>
            <c:bubble3D val="0"/>
            <c:spPr>
              <a:solidFill>
                <a:srgbClr val="BFC4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E3-472F-92D2-2400F9493830}"/>
              </c:ext>
            </c:extLst>
          </c:dPt>
          <c:dPt>
            <c:idx val="3"/>
            <c:invertIfNegative val="0"/>
            <c:bubble3D val="0"/>
            <c:spPr>
              <a:solidFill>
                <a:srgbClr val="8E9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E3-472F-92D2-2400F9493830}"/>
              </c:ext>
            </c:extLst>
          </c:dPt>
          <c:dPt>
            <c:idx val="4"/>
            <c:invertIfNegative val="0"/>
            <c:bubble3D val="0"/>
            <c:spPr>
              <a:solidFill>
                <a:srgbClr val="3D8B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3E3-472F-92D2-2400F9493830}"/>
              </c:ext>
            </c:extLst>
          </c:dPt>
          <c:dPt>
            <c:idx val="5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3E3-472F-92D2-2400F9493830}"/>
              </c:ext>
            </c:extLst>
          </c:dPt>
          <c:dPt>
            <c:idx val="6"/>
            <c:invertIfNegative val="0"/>
            <c:bubble3D val="0"/>
            <c:spPr>
              <a:solidFill>
                <a:srgbClr val="F5B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3E3-472F-92D2-2400F9493830}"/>
              </c:ext>
            </c:extLst>
          </c:dPt>
          <c:cat>
            <c:strRef>
              <c:f>Sheet1!$A$2:$A$8</c:f>
              <c:strCache>
                <c:ptCount val="7"/>
                <c:pt idx="0">
                  <c:v>black</c:v>
                </c:pt>
                <c:pt idx="1">
                  <c:v>white</c:v>
                </c:pt>
                <c:pt idx="2">
                  <c:v>silver</c:v>
                </c:pt>
                <c:pt idx="3">
                  <c:v>gray</c:v>
                </c:pt>
                <c:pt idx="4">
                  <c:v>blue</c:v>
                </c:pt>
                <c:pt idx="5">
                  <c:v>red</c:v>
                </c:pt>
                <c:pt idx="6">
                  <c:v>gold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109147</c:v>
                </c:pt>
                <c:pt idx="1">
                  <c:v>104292</c:v>
                </c:pt>
                <c:pt idx="2">
                  <c:v>81868</c:v>
                </c:pt>
                <c:pt idx="3">
                  <c:v>81842</c:v>
                </c:pt>
                <c:pt idx="4">
                  <c:v>50060</c:v>
                </c:pt>
                <c:pt idx="5">
                  <c:v>42761</c:v>
                </c:pt>
                <c:pt idx="6">
                  <c:v>10994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13E3-472F-92D2-2400F94938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Units sold</c:v>
                </c:pt>
              </c:strCache>
            </c:strRef>
          </c:tx>
          <c:spPr>
            <a:solidFill>
              <a:srgbClr val="3D8BF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BBA-4D61-B473-181DF112EE82}"/>
              </c:ext>
            </c:extLst>
          </c:dPt>
          <c:dPt>
            <c:idx val="1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BBA-4D61-B473-181DF112EE82}"/>
              </c:ext>
            </c:extLst>
          </c:dPt>
          <c:dPt>
            <c:idx val="2"/>
            <c:invertIfNegative val="0"/>
            <c:bubble3D val="0"/>
            <c:spPr>
              <a:solidFill>
                <a:srgbClr val="F9616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BBA-4D61-B473-181DF112EE82}"/>
              </c:ext>
            </c:extLst>
          </c:dPt>
          <c:dPt>
            <c:idx val="3"/>
            <c:invertIfNegative val="0"/>
            <c:bubble3D val="0"/>
            <c:spPr>
              <a:solidFill>
                <a:srgbClr val="F5B8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BBA-4D61-B473-181DF112EE82}"/>
              </c:ext>
            </c:extLst>
          </c:dPt>
          <c:dPt>
            <c:idx val="4"/>
            <c:invertIfNegative val="0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BBA-4D61-B473-181DF112EE82}"/>
              </c:ext>
            </c:extLst>
          </c:dPt>
          <c:dPt>
            <c:idx val="5"/>
            <c:invertIfNegative val="0"/>
            <c:bubble3D val="0"/>
            <c:spPr>
              <a:solidFill>
                <a:srgbClr val="00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FBBA-4D61-B473-181DF112EE82}"/>
              </c:ext>
            </c:extLst>
          </c:dPt>
          <c:dPt>
            <c:idx val="6"/>
            <c:invertIfNegative val="0"/>
            <c:bubble3D val="0"/>
            <c:spPr>
              <a:solidFill>
                <a:srgbClr val="00A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FBBA-4D61-B473-181DF112EE82}"/>
              </c:ext>
            </c:extLst>
          </c:dPt>
          <c:dPt>
            <c:idx val="7"/>
            <c:invertIfNegative val="0"/>
            <c:bubble3D val="0"/>
            <c:spPr>
              <a:solidFill>
                <a:srgbClr val="D1D5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FBBA-4D61-B473-181DF112EE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Dec</c:v>
                </c:pt>
                <c:pt idx="1">
                  <c:v>Jan</c:v>
                </c:pt>
                <c:pt idx="2">
                  <c:v>Feb</c:v>
                </c:pt>
                <c:pt idx="3">
                  <c:v>Mar</c:v>
                </c:pt>
                <c:pt idx="4">
                  <c:v>Apr</c:v>
                </c:pt>
                <c:pt idx="5">
                  <c:v>May</c:v>
                </c:pt>
                <c:pt idx="6">
                  <c:v>Jun</c:v>
                </c:pt>
                <c:pt idx="7">
                  <c:v>Jul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53520</c:v>
                </c:pt>
                <c:pt idx="1">
                  <c:v>140815</c:v>
                </c:pt>
                <c:pt idx="2">
                  <c:v>163053</c:v>
                </c:pt>
                <c:pt idx="3">
                  <c:v>46277</c:v>
                </c:pt>
                <c:pt idx="4">
                  <c:v>1450</c:v>
                </c:pt>
                <c:pt idx="5">
                  <c:v>52447</c:v>
                </c:pt>
                <c:pt idx="6">
                  <c:v>99937</c:v>
                </c:pt>
                <c:pt idx="7">
                  <c:v>1300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FBBA-4D61-B473-181DF112EE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EF1F6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0335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13716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457200" cy="137160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2743200"/>
            <a:ext cx="457200" cy="1371600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114800"/>
            <a:ext cx="457200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00"/>
            <a:ext cx="457200" cy="137160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0" y="548640"/>
            <a:ext cx="3657600" cy="3657600"/>
          </a:xfrm>
          <a:prstGeom prst="ellipse">
            <a:avLst/>
          </a:prstGeom>
          <a:solidFill>
            <a:srgbClr val="F5F7FB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0" y="914400"/>
            <a:ext cx="2926080" cy="2926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0" y="128016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548K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59536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vehicles sold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0" y="2560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 14–15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0" y="6400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11887200" y="4114800"/>
            <a:ext cx="274320" cy="27432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3931920"/>
            <a:ext cx="457200" cy="457200"/>
          </a:xfrm>
          <a:prstGeom prst="ellipse">
            <a:avLst/>
          </a:prstGeom>
          <a:solidFill>
            <a:srgbClr val="00A6A0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E2761"/>
                </a:solidFill>
                <a:latin typeface="Arial" pitchFamily="34" charset="0"/>
                <a:cs typeface="Arial" pitchFamily="34" charset="-120"/>
              </a:rPr>
              <a:t>Mileage Meets Margin</a:t>
            </a:r>
            <a:endParaRPr lang="en-US" sz="5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37490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data-driven review of revenue drivers, regional hotspots, customer preferences and pricing efficiency.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52120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5212080"/>
            <a:ext cx="2651760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$7.51B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2296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52120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/>
        </p:spPr>
      </p:sp>
      <p:sp>
        <p:nvSpPr>
          <p:cNvPr id="24" name="Shape 22"/>
          <p:cNvSpPr/>
          <p:nvPr/>
        </p:nvSpPr>
        <p:spPr>
          <a:xfrm>
            <a:off x="3474720" y="5212080"/>
            <a:ext cx="2651760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$13,699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65760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sale price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52120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/>
        </p:spPr>
      </p:sp>
      <p:sp>
        <p:nvSpPr>
          <p:cNvPr id="28" name="Shape 26"/>
          <p:cNvSpPr/>
          <p:nvPr/>
        </p:nvSpPr>
        <p:spPr>
          <a:xfrm>
            <a:off x="6309360" y="5212080"/>
            <a:ext cx="2651760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49224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brand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144000" y="521208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5F7FB"/>
          </a:solidFill>
          <a:ln/>
        </p:spPr>
      </p:sp>
      <p:sp>
        <p:nvSpPr>
          <p:cNvPr id="32" name="Shape 30"/>
          <p:cNvSpPr/>
          <p:nvPr/>
        </p:nvSpPr>
        <p:spPr>
          <a:xfrm>
            <a:off x="9144000" y="5212080"/>
            <a:ext cx="2651760" cy="109728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33" name="Text 31"/>
          <p:cNvSpPr/>
          <p:nvPr/>
        </p:nvSpPr>
        <p:spPr>
          <a:xfrm>
            <a:off x="9326880" y="54406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326880" y="5943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market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828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1828800"/>
            <a:ext cx="370332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240280"/>
            <a:ext cx="822960" cy="8229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737360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numbers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61688" y="1828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22" name="Shape 20"/>
          <p:cNvSpPr/>
          <p:nvPr/>
        </p:nvSpPr>
        <p:spPr>
          <a:xfrm>
            <a:off x="4361688" y="1828800"/>
            <a:ext cx="3703320" cy="13716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3" name="Shape 21"/>
          <p:cNvSpPr/>
          <p:nvPr/>
        </p:nvSpPr>
        <p:spPr>
          <a:xfrm>
            <a:off x="4636008" y="2240280"/>
            <a:ext cx="822960" cy="82296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4" name="Text 22"/>
          <p:cNvSpPr/>
          <p:nvPr/>
        </p:nvSpPr>
        <p:spPr>
          <a:xfrm>
            <a:off x="4636008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641848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41848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makes &amp; models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36008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01768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66176" y="1828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266176" y="1828800"/>
            <a:ext cx="3703320" cy="137160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31" name="Shape 29"/>
          <p:cNvSpPr/>
          <p:nvPr/>
        </p:nvSpPr>
        <p:spPr>
          <a:xfrm>
            <a:off x="8540496" y="2240280"/>
            <a:ext cx="822960" cy="822960"/>
          </a:xfrm>
          <a:prstGeom prst="ellipse">
            <a:avLst/>
          </a:prstGeom>
          <a:solidFill>
            <a:srgbClr val="00A6A0"/>
          </a:solidFill>
          <a:ln/>
        </p:spPr>
      </p:sp>
      <p:sp>
        <p:nvSpPr>
          <p:cNvPr id="32" name="Text 30"/>
          <p:cNvSpPr/>
          <p:nvPr/>
        </p:nvSpPr>
        <p:spPr>
          <a:xfrm>
            <a:off x="8540496" y="2240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546336" y="2331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Age, Mileage &amp; Price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546336" y="2697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value evolves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40496" y="3246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906256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114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38" name="Shape 36"/>
          <p:cNvSpPr/>
          <p:nvPr/>
        </p:nvSpPr>
        <p:spPr>
          <a:xfrm>
            <a:off x="457200" y="4114800"/>
            <a:ext cx="3703320" cy="137160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39" name="Shape 37"/>
          <p:cNvSpPr/>
          <p:nvPr/>
        </p:nvSpPr>
        <p:spPr>
          <a:xfrm>
            <a:off x="731520" y="452628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526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737360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Performance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737360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volume lives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1520" y="5532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D8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097280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361688" y="4114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46" name="Shape 44"/>
          <p:cNvSpPr/>
          <p:nvPr/>
        </p:nvSpPr>
        <p:spPr>
          <a:xfrm>
            <a:off x="4361688" y="4114800"/>
            <a:ext cx="3703320" cy="1371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7" name="Shape 45"/>
          <p:cNvSpPr/>
          <p:nvPr/>
        </p:nvSpPr>
        <p:spPr>
          <a:xfrm>
            <a:off x="4636008" y="4526280"/>
            <a:ext cx="822960" cy="82296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48" name="Text 46"/>
          <p:cNvSpPr/>
          <p:nvPr/>
        </p:nvSpPr>
        <p:spPr>
          <a:xfrm>
            <a:off x="4636008" y="4526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5641848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Preferences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5641848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Body, transmission, color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636008" y="5532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5001768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66176" y="4114800"/>
            <a:ext cx="3703320" cy="2057400"/>
          </a:xfrm>
          <a:prstGeom prst="roundRect">
            <a:avLst>
              <a:gd name="adj" fmla="val 5333"/>
            </a:avLst>
          </a:prstGeom>
          <a:solidFill>
            <a:srgbClr val="F5F7FB"/>
          </a:solidFill>
          <a:ln/>
        </p:spPr>
      </p:sp>
      <p:sp>
        <p:nvSpPr>
          <p:cNvPr id="54" name="Shape 52"/>
          <p:cNvSpPr/>
          <p:nvPr/>
        </p:nvSpPr>
        <p:spPr>
          <a:xfrm>
            <a:off x="8266176" y="4114800"/>
            <a:ext cx="3703320" cy="137160"/>
          </a:xfrm>
          <a:prstGeom prst="rect">
            <a:avLst/>
          </a:prstGeom>
          <a:solidFill>
            <a:srgbClr val="2EB872"/>
          </a:solidFill>
          <a:ln/>
        </p:spPr>
      </p:sp>
      <p:sp>
        <p:nvSpPr>
          <p:cNvPr id="55" name="Shape 53"/>
          <p:cNvSpPr/>
          <p:nvPr/>
        </p:nvSpPr>
        <p:spPr>
          <a:xfrm>
            <a:off x="8540496" y="4526280"/>
            <a:ext cx="822960" cy="822960"/>
          </a:xfrm>
          <a:prstGeom prst="ellipse">
            <a:avLst/>
          </a:prstGeom>
          <a:solidFill>
            <a:srgbClr val="2EB872"/>
          </a:solidFill>
          <a:ln/>
        </p:spPr>
      </p:sp>
      <p:sp>
        <p:nvSpPr>
          <p:cNvPr id="56" name="Text 54"/>
          <p:cNvSpPr/>
          <p:nvPr/>
        </p:nvSpPr>
        <p:spPr>
          <a:xfrm>
            <a:off x="8540496" y="4526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9546336" y="4617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Profitability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546336" y="4983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vs. MMR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40496" y="5532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906256" y="5532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EXECUTIVE SUMMARY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 numbers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91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1874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85800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$7.51B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58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revenue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548K vehicles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19272" y="1691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47872" y="1874520"/>
            <a:ext cx="640080" cy="64008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1" name="Text 19"/>
          <p:cNvSpPr/>
          <p:nvPr/>
        </p:nvSpPr>
        <p:spPr>
          <a:xfrm>
            <a:off x="3547872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547872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$13,699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47872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sale price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47872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all bodies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1691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9944" y="1874520"/>
            <a:ext cx="640080" cy="640080"/>
          </a:xfrm>
          <a:prstGeom prst="ellipse">
            <a:avLst/>
          </a:prstGeom>
          <a:solidFill>
            <a:srgbClr val="00A6A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9944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09944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6409944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brand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9944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 of revenue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043416" y="1691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72016" y="1874520"/>
            <a:ext cx="640080" cy="64008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33" name="Text 31"/>
          <p:cNvSpPr/>
          <p:nvPr/>
        </p:nvSpPr>
        <p:spPr>
          <a:xfrm>
            <a:off x="9272016" y="1874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272016" y="26060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Florida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9272016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market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72016" y="33375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81K units sold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11274552" cy="2468880"/>
          </a:xfrm>
          <a:prstGeom prst="roundRect">
            <a:avLst>
              <a:gd name="adj" fmla="val 3704"/>
            </a:avLst>
          </a:prstGeom>
          <a:solidFill>
            <a:srgbClr val="F5F7FB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3886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tells us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0080" y="4434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600" dirty="0"/>
          </a:p>
        </p:txBody>
      </p:sp>
      <p:sp>
        <p:nvSpPr>
          <p:cNvPr id="40" name="Shape 38"/>
          <p:cNvSpPr/>
          <p:nvPr/>
        </p:nvSpPr>
        <p:spPr>
          <a:xfrm>
            <a:off x="640080" y="5120640"/>
            <a:ext cx="36576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Top-10 brands share of revenue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429000" y="4434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600" dirty="0"/>
          </a:p>
        </p:txBody>
      </p:sp>
      <p:sp>
        <p:nvSpPr>
          <p:cNvPr id="43" name="Shape 41"/>
          <p:cNvSpPr/>
          <p:nvPr/>
        </p:nvSpPr>
        <p:spPr>
          <a:xfrm>
            <a:off x="3429000" y="5120640"/>
            <a:ext cx="365760" cy="36576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Sedans + SUVs share of units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17920" y="4434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3600" dirty="0"/>
          </a:p>
        </p:txBody>
      </p:sp>
      <p:sp>
        <p:nvSpPr>
          <p:cNvPr id="46" name="Shape 44"/>
          <p:cNvSpPr/>
          <p:nvPr/>
        </p:nvSpPr>
        <p:spPr>
          <a:xfrm>
            <a:off x="6217920" y="5120640"/>
            <a:ext cx="365760" cy="36576"/>
          </a:xfrm>
          <a:prstGeom prst="rect">
            <a:avLst/>
          </a:prstGeom>
          <a:solidFill>
            <a:srgbClr val="2EB872"/>
          </a:solidFill>
          <a:ln/>
        </p:spPr>
      </p:sp>
      <p:sp>
        <p:nvSpPr>
          <p:cNvPr id="47" name="Text 45"/>
          <p:cNvSpPr/>
          <p:nvPr/>
        </p:nvSpPr>
        <p:spPr>
          <a:xfrm>
            <a:off x="621792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above market value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9006840" y="44348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3600" dirty="0"/>
          </a:p>
        </p:txBody>
      </p:sp>
      <p:sp>
        <p:nvSpPr>
          <p:cNvPr id="49" name="Shape 47"/>
          <p:cNvSpPr/>
          <p:nvPr/>
        </p:nvSpPr>
        <p:spPr>
          <a:xfrm>
            <a:off x="9006840" y="5120640"/>
            <a:ext cx="365760" cy="36576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50" name="Text 48"/>
          <p:cNvSpPr/>
          <p:nvPr/>
        </p:nvSpPr>
        <p:spPr>
          <a:xfrm>
            <a:off x="9006840" y="5212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from FL + CA + PA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F5B82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REVENUE DRIVERS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brands by revenue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5B82E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457200" y="169164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229600" y="1691640"/>
            <a:ext cx="3502152" cy="4663440"/>
          </a:xfrm>
          <a:prstGeom prst="roundRect">
            <a:avLst>
              <a:gd name="adj" fmla="val 2611"/>
            </a:avLst>
          </a:prstGeom>
          <a:solidFill>
            <a:srgbClr val="1E2761"/>
          </a:solidFill>
          <a:ln/>
        </p:spPr>
      </p:sp>
      <p:sp>
        <p:nvSpPr>
          <p:cNvPr id="15" name="Shape 12"/>
          <p:cNvSpPr/>
          <p:nvPr/>
        </p:nvSpPr>
        <p:spPr>
          <a:xfrm>
            <a:off x="10515600" y="1371600"/>
            <a:ext cx="914400" cy="9144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0" y="18288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412480" y="219456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by a wide margin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8412480" y="320040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$1.36B revenue — 88% more than #2 Chevrolet, ~3× Toyota.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412480" y="4206240"/>
            <a:ext cx="457200" cy="4572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4297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3600" dirty="0"/>
          </a:p>
        </p:txBody>
      </p:sp>
      <p:sp>
        <p:nvSpPr>
          <p:cNvPr id="21" name="Text 18"/>
          <p:cNvSpPr/>
          <p:nvPr/>
        </p:nvSpPr>
        <p:spPr>
          <a:xfrm>
            <a:off x="8412480" y="49377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revenue from the top 10 brands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F5B82E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REVENUE DRIVERS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models by revenue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5B82E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7589520" cy="402336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 Price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Ford F-150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$272.7M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$18,834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B8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Nissan Altima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$221.0M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19,349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$11,422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A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Ford Escape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$166.0M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$13,958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Ford Fusion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$159.9M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12,945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$12,352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Infiniti G Sedan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$147.9M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7,417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$19,941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Ford Explorer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$140.5M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$18,061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Toyota Camry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$140.3M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$11,180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BMW 3 Series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$137.9M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8,204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$16,809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Ford Edge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$110.9M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5,915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$18,749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5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Chev. Silverado 1500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E276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$107.3M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6,362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$16,866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8229600" y="169164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0" y="1828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of 10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41248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top-revenue models are Ford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12480" y="3063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FFE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F-150 • Escape • Fusion • Explorer • Edge — together $850M.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229600" y="4114800"/>
            <a:ext cx="3502152" cy="2240280"/>
          </a:xfrm>
          <a:prstGeom prst="roundRect">
            <a:avLst>
              <a:gd name="adj" fmla="val 4082"/>
            </a:avLst>
          </a:prstGeom>
          <a:solidFill>
            <a:srgbClr val="00A6A0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42519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19,349</a:t>
            </a:r>
            <a:endParaRPr lang="en-US" sz="3400" dirty="0"/>
          </a:p>
        </p:txBody>
      </p:sp>
      <p:sp>
        <p:nvSpPr>
          <p:cNvPr id="20" name="Text 17"/>
          <p:cNvSpPr/>
          <p:nvPr/>
        </p:nvSpPr>
        <p:spPr>
          <a:xfrm>
            <a:off x="8412480" y="4937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Altima units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412480" y="534924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D6F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best-selling nameplate by volume.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00A6A0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0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AGE &amp; USAGE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Newer cars sell for more — older cars travel further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00A6A0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457200" y="173736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6126480" y="1737360"/>
          <a:ext cx="557784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3D8BFD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3D8B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REGIONAL PERFORMANCE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states by units sold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3D8BFD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457200" y="1691640"/>
          <a:ext cx="758952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8229600" y="169164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8412480" y="1828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9418320" y="1920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$1.14B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9418320" y="22402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 market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229600" y="274320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F5B82E"/>
          </a:solidFill>
          <a:ln/>
        </p:spPr>
      </p:sp>
      <p:sp>
        <p:nvSpPr>
          <p:cNvPr id="19" name="Text 16"/>
          <p:cNvSpPr/>
          <p:nvPr/>
        </p:nvSpPr>
        <p:spPr>
          <a:xfrm>
            <a:off x="8412480" y="28803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9418320" y="2971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$1.04B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418320" y="3291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 market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229600" y="3794760"/>
            <a:ext cx="3502152" cy="914400"/>
          </a:xfrm>
          <a:prstGeom prst="roundRect">
            <a:avLst>
              <a:gd name="adj" fmla="val 8000"/>
            </a:avLst>
          </a:prstGeom>
          <a:solidFill>
            <a:srgbClr val="00A6A0"/>
          </a:solidFill>
          <a:ln/>
        </p:spPr>
      </p:sp>
      <p:sp>
        <p:nvSpPr>
          <p:cNvPr id="23" name="Text 20"/>
          <p:cNvSpPr/>
          <p:nvPr/>
        </p:nvSpPr>
        <p:spPr>
          <a:xfrm>
            <a:off x="8412480" y="393192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9418320" y="4023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$0.85B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418320" y="4343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 market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8229600" y="4937760"/>
            <a:ext cx="3502152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/>
        </p:spPr>
      </p:sp>
      <p:sp>
        <p:nvSpPr>
          <p:cNvPr id="27" name="Text 24"/>
          <p:cNvSpPr/>
          <p:nvPr/>
        </p:nvSpPr>
        <p:spPr>
          <a:xfrm>
            <a:off x="8412480" y="50292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800" dirty="0"/>
          </a:p>
        </p:txBody>
      </p:sp>
      <p:sp>
        <p:nvSpPr>
          <p:cNvPr id="28" name="Text 25"/>
          <p:cNvSpPr/>
          <p:nvPr/>
        </p:nvSpPr>
        <p:spPr>
          <a:xfrm>
            <a:off x="8412480" y="55321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total revenue from FL + CA + PA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7B5EA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CUSTOMER PREFERENCES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buyers are actually choosing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7B5EA7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457200" y="169164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"/>
          <p:cNvGraphicFramePr/>
          <p:nvPr/>
        </p:nvGraphicFramePr>
        <p:xfrm>
          <a:off x="4297680" y="1691640"/>
          <a:ext cx="3840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5" name="Chart 2"/>
          <p:cNvGraphicFramePr/>
          <p:nvPr/>
        </p:nvGraphicFramePr>
        <p:xfrm>
          <a:off x="8138160" y="1691640"/>
          <a:ext cx="3593592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6" name="Shape 11"/>
          <p:cNvSpPr/>
          <p:nvPr/>
        </p:nvSpPr>
        <p:spPr>
          <a:xfrm>
            <a:off x="457200" y="461772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457200" y="4617720"/>
            <a:ext cx="109728" cy="16916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4754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73152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units are sedans or SUVs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73152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these two body styles deepest.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297680" y="461772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297680" y="4617720"/>
            <a:ext cx="109728" cy="1691640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23" name="Text 18"/>
          <p:cNvSpPr/>
          <p:nvPr/>
        </p:nvSpPr>
        <p:spPr>
          <a:xfrm>
            <a:off x="4572000" y="4754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3000" dirty="0"/>
          </a:p>
        </p:txBody>
      </p:sp>
      <p:sp>
        <p:nvSpPr>
          <p:cNvPr id="24" name="Text 19"/>
          <p:cNvSpPr/>
          <p:nvPr/>
        </p:nvSpPr>
        <p:spPr>
          <a:xfrm>
            <a:off x="457200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sales are automatic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457200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is a niche — minimize allocation.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8138160" y="4617720"/>
            <a:ext cx="36576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138160" y="4617720"/>
            <a:ext cx="109728" cy="16916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8" name="Text 23"/>
          <p:cNvSpPr/>
          <p:nvPr/>
        </p:nvSpPr>
        <p:spPr>
          <a:xfrm>
            <a:off x="8412480" y="47548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B5E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8412480" y="53035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neutral colors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412480" y="566928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De-prioritize bold colors in inventory.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2EB87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PROFITABILITY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performance vs. market value (MMR)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2EB872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691640"/>
            <a:ext cx="11274552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8480" y="1417320"/>
            <a:ext cx="1280160" cy="12801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182880" y="2011680"/>
            <a:ext cx="640080" cy="64008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169164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-$159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avg gap to MMR per vehicle    •    </a:t>
            </a:r>
            <a:r>
              <a:rPr lang="en-US" sz="2400" b="1" dirty="0">
                <a:solidFill>
                  <a:srgbClr val="F5B8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of cars sold above market value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00" cy="457200"/>
          </a:xfrm>
          <a:prstGeom prst="rect">
            <a:avLst/>
          </a:prstGeom>
          <a:solidFill>
            <a:srgbClr val="2EB87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TOP 6 ABOVE MARKET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hummer h2 sut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206240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+$1,682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sprinter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+$945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7240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206240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+$697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4 series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4800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+$665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5257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x1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206240" y="5257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+$542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77240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 rover lr3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06240" y="5715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+$428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45352" y="2834640"/>
            <a:ext cx="548640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5352" y="2834640"/>
            <a:ext cx="5486400" cy="4572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428232" y="2834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 TOP 6 BELOW MARKET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65392" y="3429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g-class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994392" y="3429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-$2,437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65392" y="38862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bmw m6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994392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-$992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565392" y="4343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maserati quattroporte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994392" y="43434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-$880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565392" y="4800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nissan gt-r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94392" y="48006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-$870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65392" y="52578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lexus lx 570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94392" y="5257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-$832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565392" y="57150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 cla-class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94392" y="5715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-$804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2EB872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2EB8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PROFITABILITY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rhythm (Dec 2014 – Jul 2015)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2EB872"/>
          </a:solidFill>
          <a:ln/>
        </p:spPr>
      </p:sp>
      <p:graphicFrame>
        <p:nvGraphicFramePr>
          <p:cNvPr id="13" name="Chart 0"/>
          <p:cNvGraphicFramePr/>
          <p:nvPr/>
        </p:nvGraphicFramePr>
        <p:xfrm>
          <a:off x="457200" y="1691640"/>
          <a:ext cx="11274552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Shape 11"/>
          <p:cNvSpPr/>
          <p:nvPr/>
        </p:nvSpPr>
        <p:spPr>
          <a:xfrm>
            <a:off x="457200" y="598932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5989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+ Feb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965960" y="5989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303K units — 54% of annual volume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361688" y="598932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6B7280"/>
          </a:solidFill>
          <a:ln/>
        </p:spPr>
      </p:sp>
      <p:sp>
        <p:nvSpPr>
          <p:cNvPr id="18" name="Text 15"/>
          <p:cNvSpPr/>
          <p:nvPr/>
        </p:nvSpPr>
        <p:spPr>
          <a:xfrm>
            <a:off x="4498848" y="5989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 &amp; Jul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870448" y="5989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gaps — verify with operations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8266176" y="5989320"/>
            <a:ext cx="3703320" cy="502920"/>
          </a:xfrm>
          <a:prstGeom prst="roundRect">
            <a:avLst>
              <a:gd name="adj" fmla="val 10909"/>
            </a:avLst>
          </a:prstGeom>
          <a:solidFill>
            <a:srgbClr val="00A6A0"/>
          </a:solidFill>
          <a:ln/>
        </p:spPr>
      </p:sp>
      <p:sp>
        <p:nvSpPr>
          <p:cNvPr id="21" name="Text 18"/>
          <p:cNvSpPr/>
          <p:nvPr/>
        </p:nvSpPr>
        <p:spPr>
          <a:xfrm>
            <a:off x="8403336" y="59893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774936" y="59893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recovery — 100K units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6565392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 Sales Performance Review  •  FY 2014–2015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1475720" y="6519672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11475720" y="6519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457200"/>
            <a:ext cx="164592" cy="292608"/>
          </a:xfrm>
          <a:prstGeom prst="roundRect">
            <a:avLst>
              <a:gd name="adj" fmla="val 22222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4572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•  RECOMMENDATIONS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77724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actions for the next quarter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54864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173736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37360"/>
            <a:ext cx="3703320" cy="13716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800" y="210312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Double-down on Ford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0175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Ford = 18% of revenue. Expand F-150, Escape, Fusion stock in top 4 states.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61688" y="173736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61688" y="1737360"/>
            <a:ext cx="3703320" cy="137160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21" name="Shape 19"/>
          <p:cNvSpPr/>
          <p:nvPr/>
        </p:nvSpPr>
        <p:spPr>
          <a:xfrm>
            <a:off x="4590288" y="2103120"/>
            <a:ext cx="777240" cy="77724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22" name="Text 20"/>
          <p:cNvSpPr/>
          <p:nvPr/>
        </p:nvSpPr>
        <p:spPr>
          <a:xfrm>
            <a:off x="4590288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 body mix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90288" y="30175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~70% of floor to sedans + SUVs. Cut deep on coupes &amp; convertibles.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266176" y="173736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66176" y="1737360"/>
            <a:ext cx="3703320" cy="137160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27" name="Shape 25"/>
          <p:cNvSpPr/>
          <p:nvPr/>
        </p:nvSpPr>
        <p:spPr>
          <a:xfrm>
            <a:off x="8494776" y="2103120"/>
            <a:ext cx="777240" cy="777240"/>
          </a:xfrm>
          <a:prstGeom prst="ellipse">
            <a:avLst/>
          </a:prstGeom>
          <a:solidFill>
            <a:srgbClr val="00A6A0"/>
          </a:solidFill>
          <a:ln/>
        </p:spPr>
      </p:sp>
      <p:sp>
        <p:nvSpPr>
          <p:cNvPr id="28" name="Text 26"/>
          <p:cNvSpPr/>
          <p:nvPr/>
        </p:nvSpPr>
        <p:spPr>
          <a:xfrm>
            <a:off x="8494776" y="2103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09176" y="214884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Re-price below-market models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494776" y="301752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M-B G-Class, BMW M6, Maserati Quattroporte sell $800+ under MMR.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0690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069080"/>
            <a:ext cx="3703320" cy="137160"/>
          </a:xfrm>
          <a:prstGeom prst="rect">
            <a:avLst/>
          </a:prstGeom>
          <a:solidFill>
            <a:srgbClr val="3D8BFD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" y="4434840"/>
            <a:ext cx="777240" cy="7772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4434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00200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 marketing in FL/CA/PA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" y="5349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 of revenue lives here. Shift digital ad spend accordingly.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61688" y="40690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361688" y="4069080"/>
            <a:ext cx="3703320" cy="13716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39" name="Shape 37"/>
          <p:cNvSpPr/>
          <p:nvPr/>
        </p:nvSpPr>
        <p:spPr>
          <a:xfrm>
            <a:off x="4590288" y="4434840"/>
            <a:ext cx="777240" cy="77724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40" name="Text 38"/>
          <p:cNvSpPr/>
          <p:nvPr/>
        </p:nvSpPr>
        <p:spPr>
          <a:xfrm>
            <a:off x="4590288" y="4434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504688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 neutral colors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90288" y="5349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 of buyers choose black/white/silver/gray. Reduce exotic colors.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66176" y="4069080"/>
            <a:ext cx="37033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66176" y="4069080"/>
            <a:ext cx="3703320" cy="137160"/>
          </a:xfrm>
          <a:prstGeom prst="rect">
            <a:avLst/>
          </a:prstGeom>
          <a:solidFill>
            <a:srgbClr val="2EB872"/>
          </a:solidFill>
          <a:ln/>
        </p:spPr>
      </p:sp>
      <p:sp>
        <p:nvSpPr>
          <p:cNvPr id="45" name="Shape 43"/>
          <p:cNvSpPr/>
          <p:nvPr/>
        </p:nvSpPr>
        <p:spPr>
          <a:xfrm>
            <a:off x="8494776" y="4434840"/>
            <a:ext cx="777240" cy="777240"/>
          </a:xfrm>
          <a:prstGeom prst="ellipse">
            <a:avLst/>
          </a:prstGeom>
          <a:solidFill>
            <a:srgbClr val="2EB872"/>
          </a:solidFill>
          <a:ln/>
        </p:spPr>
      </p:sp>
      <p:sp>
        <p:nvSpPr>
          <p:cNvPr id="46" name="Text 44"/>
          <p:cNvSpPr/>
          <p:nvPr/>
        </p:nvSpPr>
        <p:spPr>
          <a:xfrm>
            <a:off x="8494776" y="4434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409176" y="44805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for Jan–Feb surge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494776" y="5349240"/>
            <a:ext cx="3291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 of units in two months — pre-stock inventory and staff in Q4.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238" cy="10972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047238" y="0"/>
            <a:ext cx="3047238" cy="109728"/>
          </a:xfrm>
          <a:prstGeom prst="rect">
            <a:avLst/>
          </a:prstGeom>
          <a:solidFill>
            <a:srgbClr val="F5B82E"/>
          </a:solidFill>
          <a:ln/>
        </p:spPr>
      </p:sp>
      <p:sp>
        <p:nvSpPr>
          <p:cNvPr id="4" name="Shape 2"/>
          <p:cNvSpPr/>
          <p:nvPr/>
        </p:nvSpPr>
        <p:spPr>
          <a:xfrm>
            <a:off x="6094476" y="0"/>
            <a:ext cx="3047238" cy="109728"/>
          </a:xfrm>
          <a:prstGeom prst="rect">
            <a:avLst/>
          </a:prstGeom>
          <a:solidFill>
            <a:srgbClr val="00A6A0"/>
          </a:solidFill>
          <a:ln/>
        </p:spPr>
      </p:sp>
      <p:sp>
        <p:nvSpPr>
          <p:cNvPr id="5" name="Shape 3"/>
          <p:cNvSpPr/>
          <p:nvPr/>
        </p:nvSpPr>
        <p:spPr>
          <a:xfrm>
            <a:off x="9141714" y="0"/>
            <a:ext cx="3047238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914400"/>
            <a:ext cx="731520" cy="7315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280160"/>
            <a:ext cx="548640" cy="548640"/>
          </a:xfrm>
          <a:prstGeom prst="ellipse">
            <a:avLst/>
          </a:prstGeom>
          <a:solidFill>
            <a:srgbClr val="F5B82E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00A6A0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800" y="5303520"/>
            <a:ext cx="914400" cy="91440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731520"/>
            <a:ext cx="365760" cy="36576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12" name="Shape 10"/>
          <p:cNvSpPr/>
          <p:nvPr/>
        </p:nvSpPr>
        <p:spPr>
          <a:xfrm>
            <a:off x="5632704" y="3611880"/>
            <a:ext cx="9144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Questions, challenges, and the discussion that drives the plan forward.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848</Words>
  <Application>Microsoft Office PowerPoint</Application>
  <PresentationFormat>Widescreen</PresentationFormat>
  <Paragraphs>264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 Sales Analysis</dc:title>
  <dc:subject>PptxGenJS Presentation</dc:subject>
  <dc:creator>PptxGenJS</dc:creator>
  <cp:lastModifiedBy>Mia Mashele</cp:lastModifiedBy>
  <cp:revision>3</cp:revision>
  <dcterms:created xsi:type="dcterms:W3CDTF">2026-04-30T09:08:31Z</dcterms:created>
  <dcterms:modified xsi:type="dcterms:W3CDTF">2026-04-30T09:22:32Z</dcterms:modified>
</cp:coreProperties>
</file>